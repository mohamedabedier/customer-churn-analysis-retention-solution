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8" r:id="rId3"/>
    <p:sldId id="286" r:id="rId4"/>
    <p:sldId id="279" r:id="rId5"/>
    <p:sldId id="258" r:id="rId6"/>
    <p:sldId id="285" r:id="rId7"/>
    <p:sldId id="259" r:id="rId8"/>
    <p:sldId id="260" r:id="rId9"/>
    <p:sldId id="282" r:id="rId10"/>
    <p:sldId id="261" r:id="rId11"/>
    <p:sldId id="262" r:id="rId12"/>
    <p:sldId id="277" r:id="rId13"/>
    <p:sldId id="287" r:id="rId14"/>
    <p:sldId id="275" r:id="rId15"/>
    <p:sldId id="263" r:id="rId16"/>
    <p:sldId id="283" r:id="rId17"/>
    <p:sldId id="264" r:id="rId18"/>
    <p:sldId id="265" r:id="rId19"/>
    <p:sldId id="266" r:id="rId20"/>
    <p:sldId id="284" r:id="rId21"/>
    <p:sldId id="267" r:id="rId22"/>
    <p:sldId id="280" r:id="rId23"/>
    <p:sldId id="281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8869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0758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27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8542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2669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7923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524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23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32203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47612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1570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7b6163dee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7b6163dee3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27b6163dee3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8137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/>
          <p:nvPr/>
        </p:nvSpPr>
        <p:spPr>
          <a:xfrm>
            <a:off x="1" y="0"/>
            <a:ext cx="9144000" cy="1552904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6"/>
          <p:cNvSpPr/>
          <p:nvPr/>
        </p:nvSpPr>
        <p:spPr>
          <a:xfrm>
            <a:off x="528721" y="4766529"/>
            <a:ext cx="2667429" cy="15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2709572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">
  <p:cSld name="Front Cover">
    <p:bg>
      <p:bgPr>
        <a:solidFill>
          <a:srgbClr val="193EB0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5"/>
          <p:cNvSpPr/>
          <p:nvPr/>
        </p:nvSpPr>
        <p:spPr>
          <a:xfrm>
            <a:off x="528721" y="4766529"/>
            <a:ext cx="2667429" cy="15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229451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 Cover">
  <p:cSld name="Back Cover">
    <p:bg>
      <p:bgPr>
        <a:solidFill>
          <a:srgbClr val="193EB0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8"/>
          <p:cNvSpPr/>
          <p:nvPr/>
        </p:nvSpPr>
        <p:spPr>
          <a:xfrm>
            <a:off x="547539" y="4223281"/>
            <a:ext cx="8596461" cy="551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ⓒ2020 SAMSUNG. All rights reserved.</a:t>
            </a:r>
            <a:endParaRPr sz="1350"/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  <a:endParaRPr sz="1350"/>
          </a:p>
          <a:p>
            <a:pPr marL="0" marR="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  <a:endParaRPr sz="135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  <a:endParaRPr sz="1350"/>
          </a:p>
        </p:txBody>
      </p:sp>
      <p:sp>
        <p:nvSpPr>
          <p:cNvPr id="24" name="Google Shape;24;p48"/>
          <p:cNvSpPr/>
          <p:nvPr/>
        </p:nvSpPr>
        <p:spPr>
          <a:xfrm>
            <a:off x="7448438" y="302969"/>
            <a:ext cx="1256677" cy="157644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3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20591" y="1971660"/>
            <a:ext cx="3102818" cy="826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540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67FA01-207E-F68B-B058-C7BE70F8C95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71539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075" y="328613"/>
            <a:ext cx="144398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00075" y="1750219"/>
            <a:ext cx="239131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2" dirty="0">
                <a:solidFill>
                  <a:srgbClr val="B8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ANALYTICS PROJECT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00075" y="2071688"/>
            <a:ext cx="5429250" cy="817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48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
&amp; Retention Solution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28650" y="3071813"/>
            <a:ext cx="3687961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customer data to better retention decisions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8650" y="4243388"/>
            <a:ext cx="1817136" cy="146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00075" y="4800600"/>
            <a:ext cx="177259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B8C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Analysis &amp; Retention Solution</a:t>
            </a:r>
            <a:endParaRPr lang="en-US" sz="6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1D586025-7009-BA53-3D72-4C907DD3399A}"/>
              </a:ext>
            </a:extLst>
          </p:cNvPr>
          <p:cNvSpPr/>
          <p:nvPr/>
        </p:nvSpPr>
        <p:spPr>
          <a:xfrm>
            <a:off x="628650" y="3670290"/>
            <a:ext cx="581891" cy="6136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 8</a:t>
            </a:r>
            <a:br>
              <a:rPr lang="en-US" sz="1250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50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801 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1277541" y="696721"/>
            <a:ext cx="3716775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500" b="1" dirty="0">
                <a:solidFill>
                  <a:schemeClr val="lt1"/>
                </a:solidFill>
              </a:rPr>
              <a:t>Agenda</a:t>
            </a:r>
            <a:endParaRPr sz="2500" b="1" dirty="0"/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1419414" y="1860414"/>
            <a:ext cx="4276710" cy="208592"/>
            <a:chOff x="571500" y="2336175"/>
            <a:chExt cx="5702280" cy="278123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9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13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endPara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1419414" y="2152220"/>
            <a:ext cx="4276710" cy="208593"/>
            <a:chOff x="571500" y="3764860"/>
            <a:chExt cx="5702280" cy="278124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13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1409700" y="2419347"/>
            <a:ext cx="4276710" cy="208593"/>
            <a:chOff x="571500" y="3764860"/>
            <a:chExt cx="5702280" cy="278124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13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59;p3">
            <a:extLst>
              <a:ext uri="{FF2B5EF4-FFF2-40B4-BE49-F238E27FC236}">
                <a16:creationId xmlns:a16="http://schemas.microsoft.com/office/drawing/2014/main" id="{7F7E447A-C5E1-7420-8FBB-3CF4F1A9AD02}"/>
              </a:ext>
            </a:extLst>
          </p:cNvPr>
          <p:cNvGrpSpPr/>
          <p:nvPr/>
        </p:nvGrpSpPr>
        <p:grpSpPr>
          <a:xfrm>
            <a:off x="1409700" y="2686046"/>
            <a:ext cx="4276710" cy="208584"/>
            <a:chOff x="571500" y="5165783"/>
            <a:chExt cx="5702280" cy="278112"/>
          </a:xfrm>
        </p:grpSpPr>
        <p:sp>
          <p:nvSpPr>
            <p:cNvPr id="24" name="Google Shape;60;p3">
              <a:extLst>
                <a:ext uri="{FF2B5EF4-FFF2-40B4-BE49-F238E27FC236}">
                  <a16:creationId xmlns:a16="http://schemas.microsoft.com/office/drawing/2014/main" id="{C343142B-432C-21AC-C3ED-C746402D1775}"/>
                </a:ext>
              </a:extLst>
            </p:cNvPr>
            <p:cNvSpPr/>
            <p:nvPr/>
          </p:nvSpPr>
          <p:spPr>
            <a:xfrm>
              <a:off x="754380" y="516689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13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5" name="Google Shape;61;p3">
              <a:extLst>
                <a:ext uri="{FF2B5EF4-FFF2-40B4-BE49-F238E27FC236}">
                  <a16:creationId xmlns:a16="http://schemas.microsoft.com/office/drawing/2014/main" id="{A929D6BB-1C0E-E7E6-0485-DFC4F9631D13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59;p3">
            <a:extLst>
              <a:ext uri="{FF2B5EF4-FFF2-40B4-BE49-F238E27FC236}">
                <a16:creationId xmlns:a16="http://schemas.microsoft.com/office/drawing/2014/main" id="{6B0CC098-F2B6-F4AB-ACA1-ADA8CE90848D}"/>
              </a:ext>
            </a:extLst>
          </p:cNvPr>
          <p:cNvGrpSpPr/>
          <p:nvPr/>
        </p:nvGrpSpPr>
        <p:grpSpPr>
          <a:xfrm>
            <a:off x="1405346" y="3563774"/>
            <a:ext cx="4276710" cy="208593"/>
            <a:chOff x="571500" y="5165783"/>
            <a:chExt cx="5702280" cy="278124"/>
          </a:xfrm>
        </p:grpSpPr>
        <p:sp>
          <p:nvSpPr>
            <p:cNvPr id="30" name="Google Shape;60;p3">
              <a:extLst>
                <a:ext uri="{FF2B5EF4-FFF2-40B4-BE49-F238E27FC236}">
                  <a16:creationId xmlns:a16="http://schemas.microsoft.com/office/drawing/2014/main" id="{5827A87A-FDAA-039B-8499-A0134E71CC44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135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31" name="Google Shape;61;p3">
              <a:extLst>
                <a:ext uri="{FF2B5EF4-FFF2-40B4-BE49-F238E27FC236}">
                  <a16:creationId xmlns:a16="http://schemas.microsoft.com/office/drawing/2014/main" id="{8C925EB8-49B2-7445-4CD7-4610E9FC10C2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" name="Google Shape;59;p3">
            <a:extLst>
              <a:ext uri="{FF2B5EF4-FFF2-40B4-BE49-F238E27FC236}">
                <a16:creationId xmlns:a16="http://schemas.microsoft.com/office/drawing/2014/main" id="{D876FA5B-C218-9A6F-8397-0DE31982F5F2}"/>
              </a:ext>
            </a:extLst>
          </p:cNvPr>
          <p:cNvGrpSpPr/>
          <p:nvPr/>
        </p:nvGrpSpPr>
        <p:grpSpPr>
          <a:xfrm>
            <a:off x="1409822" y="3841956"/>
            <a:ext cx="4269675" cy="208592"/>
            <a:chOff x="571500" y="5165783"/>
            <a:chExt cx="5692901" cy="278123"/>
          </a:xfrm>
        </p:grpSpPr>
        <p:sp>
          <p:nvSpPr>
            <p:cNvPr id="33" name="Google Shape;60;p3">
              <a:extLst>
                <a:ext uri="{FF2B5EF4-FFF2-40B4-BE49-F238E27FC236}">
                  <a16:creationId xmlns:a16="http://schemas.microsoft.com/office/drawing/2014/main" id="{5C09F73E-CCE3-EB94-1BF8-3F91767F5498}"/>
                </a:ext>
              </a:extLst>
            </p:cNvPr>
            <p:cNvSpPr/>
            <p:nvPr/>
          </p:nvSpPr>
          <p:spPr>
            <a:xfrm>
              <a:off x="745001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13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Google Shape;61;p3">
              <a:extLst>
                <a:ext uri="{FF2B5EF4-FFF2-40B4-BE49-F238E27FC236}">
                  <a16:creationId xmlns:a16="http://schemas.microsoft.com/office/drawing/2014/main" id="{62729B27-633B-0381-594B-D268770FDC45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59;p3">
            <a:extLst>
              <a:ext uri="{FF2B5EF4-FFF2-40B4-BE49-F238E27FC236}">
                <a16:creationId xmlns:a16="http://schemas.microsoft.com/office/drawing/2014/main" id="{5BA8E6CA-3E50-9C10-4FDF-72B2CFB555C3}"/>
              </a:ext>
            </a:extLst>
          </p:cNvPr>
          <p:cNvGrpSpPr/>
          <p:nvPr/>
        </p:nvGrpSpPr>
        <p:grpSpPr>
          <a:xfrm>
            <a:off x="1405346" y="4099444"/>
            <a:ext cx="4276710" cy="208593"/>
            <a:chOff x="571500" y="5165783"/>
            <a:chExt cx="5702280" cy="278124"/>
          </a:xfrm>
        </p:grpSpPr>
        <p:sp>
          <p:nvSpPr>
            <p:cNvPr id="36" name="Google Shape;60;p3">
              <a:extLst>
                <a:ext uri="{FF2B5EF4-FFF2-40B4-BE49-F238E27FC236}">
                  <a16:creationId xmlns:a16="http://schemas.microsoft.com/office/drawing/2014/main" id="{983DC240-2142-1D58-B1DF-73232CB9745F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13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135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Google Shape;61;p3">
              <a:extLst>
                <a:ext uri="{FF2B5EF4-FFF2-40B4-BE49-F238E27FC236}">
                  <a16:creationId xmlns:a16="http://schemas.microsoft.com/office/drawing/2014/main" id="{3A4624BC-583E-7CE8-CECD-D0FFBABAA10C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56;p3">
            <a:extLst>
              <a:ext uri="{FF2B5EF4-FFF2-40B4-BE49-F238E27FC236}">
                <a16:creationId xmlns:a16="http://schemas.microsoft.com/office/drawing/2014/main" id="{A7BE938D-83D0-31CC-F469-A384BD411D9E}"/>
              </a:ext>
            </a:extLst>
          </p:cNvPr>
          <p:cNvGrpSpPr/>
          <p:nvPr/>
        </p:nvGrpSpPr>
        <p:grpSpPr>
          <a:xfrm>
            <a:off x="1408399" y="3284752"/>
            <a:ext cx="4276710" cy="208590"/>
            <a:chOff x="571500" y="5165783"/>
            <a:chExt cx="5702280" cy="278120"/>
          </a:xfrm>
        </p:grpSpPr>
        <p:sp>
          <p:nvSpPr>
            <p:cNvPr id="39" name="Google Shape;57;p3">
              <a:extLst>
                <a:ext uri="{FF2B5EF4-FFF2-40B4-BE49-F238E27FC236}">
                  <a16:creationId xmlns:a16="http://schemas.microsoft.com/office/drawing/2014/main" id="{9B7D4C13-7475-82A3-078D-64A6845669B6}"/>
                </a:ext>
              </a:extLst>
            </p:cNvPr>
            <p:cNvSpPr/>
            <p:nvPr/>
          </p:nvSpPr>
          <p:spPr>
            <a:xfrm>
              <a:off x="754380" y="516690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13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40" name="Google Shape;58;p3">
              <a:extLst>
                <a:ext uri="{FF2B5EF4-FFF2-40B4-BE49-F238E27FC236}">
                  <a16:creationId xmlns:a16="http://schemas.microsoft.com/office/drawing/2014/main" id="{5894D6D0-8127-F992-F67B-EE9DD5979182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DB63C8B-059E-B8E4-BB3E-859DF70CF6C6}"/>
              </a:ext>
            </a:extLst>
          </p:cNvPr>
          <p:cNvSpPr txBox="1"/>
          <p:nvPr/>
        </p:nvSpPr>
        <p:spPr>
          <a:xfrm>
            <a:off x="1446414" y="2905722"/>
            <a:ext cx="10472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Tech Stack</a:t>
            </a:r>
          </a:p>
        </p:txBody>
      </p:sp>
      <p:sp>
        <p:nvSpPr>
          <p:cNvPr id="10" name="Google Shape;58;p3">
            <a:extLst>
              <a:ext uri="{FF2B5EF4-FFF2-40B4-BE49-F238E27FC236}">
                <a16:creationId xmlns:a16="http://schemas.microsoft.com/office/drawing/2014/main" id="{A4EFBA02-B2A8-1C8C-C733-8FB335F5A1C3}"/>
              </a:ext>
            </a:extLst>
          </p:cNvPr>
          <p:cNvSpPr/>
          <p:nvPr/>
        </p:nvSpPr>
        <p:spPr>
          <a:xfrm>
            <a:off x="1405914" y="2992946"/>
            <a:ext cx="27000" cy="189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8836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71538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646382" y="260747"/>
            <a:ext cx="1851236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321594" y="1171575"/>
            <a:ext cx="6500813" cy="528638"/>
          </a:xfrm>
          <a:prstGeom prst="roundRect">
            <a:avLst/>
          </a:prstGeom>
          <a:solidFill>
            <a:srgbClr val="2548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393031" y="1228725"/>
            <a:ext cx="414338" cy="414338"/>
          </a:xfrm>
          <a:prstGeom prst="ellipse">
            <a:avLst/>
          </a:prstGeom>
          <a:solidFill>
            <a:srgbClr val="C9D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93031" y="1228725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07369" y="1319808"/>
            <a:ext cx="6015038" cy="232172"/>
          </a:xfrm>
          <a:prstGeom prst="rect">
            <a:avLst/>
          </a:prstGeom>
          <a:noFill/>
          <a:ln/>
        </p:spPr>
        <p:txBody>
          <a:bodyPr wrap="square" lIns="0" tIns="0" rIns="527304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Khaled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321594" y="1900238"/>
            <a:ext cx="6500813" cy="528638"/>
          </a:xfrm>
          <a:prstGeom prst="roundRect">
            <a:avLst/>
          </a:prstGeom>
          <a:solidFill>
            <a:srgbClr val="2548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393031" y="1957388"/>
            <a:ext cx="414338" cy="414338"/>
          </a:xfrm>
          <a:prstGeom prst="ellipse">
            <a:avLst/>
          </a:prstGeom>
          <a:solidFill>
            <a:srgbClr val="C9D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393031" y="1957388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807369" y="2048470"/>
            <a:ext cx="6015038" cy="232172"/>
          </a:xfrm>
          <a:prstGeom prst="rect">
            <a:avLst/>
          </a:prstGeom>
          <a:noFill/>
          <a:ln/>
        </p:spPr>
        <p:txBody>
          <a:bodyPr wrap="square" lIns="0" tIns="0" rIns="527304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 Elbana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321594" y="2628900"/>
            <a:ext cx="6500813" cy="528638"/>
          </a:xfrm>
          <a:prstGeom prst="roundRect">
            <a:avLst/>
          </a:prstGeom>
          <a:solidFill>
            <a:srgbClr val="2548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393031" y="2686050"/>
            <a:ext cx="414338" cy="414338"/>
          </a:xfrm>
          <a:prstGeom prst="ellipse">
            <a:avLst/>
          </a:prstGeom>
          <a:solidFill>
            <a:srgbClr val="C9D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393031" y="2686050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807369" y="2777133"/>
            <a:ext cx="6015038" cy="232172"/>
          </a:xfrm>
          <a:prstGeom prst="rect">
            <a:avLst/>
          </a:prstGeom>
          <a:noFill/>
          <a:ln/>
        </p:spPr>
        <p:txBody>
          <a:bodyPr wrap="square" lIns="0" tIns="0" rIns="527304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Bedier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321594" y="3357563"/>
            <a:ext cx="6500813" cy="528638"/>
          </a:xfrm>
          <a:prstGeom prst="roundRect">
            <a:avLst/>
          </a:prstGeom>
          <a:solidFill>
            <a:srgbClr val="2548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393031" y="3414713"/>
            <a:ext cx="414338" cy="414338"/>
          </a:xfrm>
          <a:prstGeom prst="ellipse">
            <a:avLst/>
          </a:prstGeom>
          <a:solidFill>
            <a:srgbClr val="C9D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393031" y="3414713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807369" y="3505795"/>
            <a:ext cx="6015038" cy="232172"/>
          </a:xfrm>
          <a:prstGeom prst="rect">
            <a:avLst/>
          </a:prstGeom>
          <a:noFill/>
          <a:ln/>
        </p:spPr>
        <p:txBody>
          <a:bodyPr wrap="square" lIns="0" tIns="0" rIns="527304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 Adel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321594" y="4086225"/>
            <a:ext cx="6500813" cy="528638"/>
          </a:xfrm>
          <a:prstGeom prst="roundRect">
            <a:avLst/>
          </a:prstGeom>
          <a:solidFill>
            <a:srgbClr val="2548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393031" y="4143375"/>
            <a:ext cx="414338" cy="414338"/>
          </a:xfrm>
          <a:prstGeom prst="ellipse">
            <a:avLst/>
          </a:prstGeom>
          <a:solidFill>
            <a:srgbClr val="C9D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393031" y="4143375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807369" y="4234458"/>
            <a:ext cx="6015038" cy="232172"/>
          </a:xfrm>
          <a:prstGeom prst="rect">
            <a:avLst/>
          </a:prstGeom>
          <a:noFill/>
          <a:ln/>
        </p:spPr>
        <p:txBody>
          <a:bodyPr wrap="square" lIns="0" tIns="0" rIns="527304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 Mohamed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385763" y="4961334"/>
            <a:ext cx="121834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Innovation Campus</a:t>
            </a:r>
            <a:endParaRPr lang="en-US" sz="650" dirty="0"/>
          </a:p>
        </p:txBody>
      </p:sp>
    </p:spTree>
    <p:extLst>
      <p:ext uri="{BB962C8B-B14F-4D97-AF65-F5344CB8AC3E}">
        <p14:creationId xmlns:p14="http://schemas.microsoft.com/office/powerpoint/2010/main" val="2021535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1528699" y="1025557"/>
            <a:ext cx="5256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300" dirty="0">
                <a:solidFill>
                  <a:schemeClr val="lt1"/>
                </a:solidFill>
              </a:rPr>
              <a:t>Introduction</a:t>
            </a:r>
            <a:endParaRPr lang="en-US" sz="1350" dirty="0"/>
          </a:p>
        </p:txBody>
      </p:sp>
      <p:cxnSp>
        <p:nvCxnSpPr>
          <p:cNvPr id="41" name="Google Shape;41;p2"/>
          <p:cNvCxnSpPr/>
          <p:nvPr/>
        </p:nvCxnSpPr>
        <p:spPr>
          <a:xfrm flipH="1">
            <a:off x="1342860" y="1403309"/>
            <a:ext cx="7875" cy="2158425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815842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74709" cy="5143500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0075" y="514350"/>
            <a:ext cx="24460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B8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00075" y="1457325"/>
            <a:ext cx="2446009" cy="995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64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leave.
Business value leaves with them.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3974771" y="485775"/>
            <a:ext cx="455481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matters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3974771" y="917972"/>
            <a:ext cx="4357688" cy="650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means customers leaving the company. The earlier the signal is visible, the more time the business has to respond.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74771" y="1882936"/>
            <a:ext cx="242888" cy="53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60534" y="1882936"/>
            <a:ext cx="40005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pressure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60534" y="2100821"/>
            <a:ext cx="4000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Losing customers can reduce recurring revenue and weaken the value of existing relationships.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974771" y="2635151"/>
            <a:ext cx="242888" cy="53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60534" y="2635151"/>
            <a:ext cx="40005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acquisition effort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360534" y="2853035"/>
            <a:ext cx="4000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Replacing lost customers requires new acquisition activity, time, and marketing effort.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974771" y="3387365"/>
            <a:ext cx="242888" cy="53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360534" y="3387365"/>
            <a:ext cx="40005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to act early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360534" y="3605250"/>
            <a:ext cx="4000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customers at risk creates an opportunity for proactive retention action before they leave.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00075" y="4829175"/>
            <a:ext cx="177259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Analysis &amp; Retention Solution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1528699" y="1025557"/>
            <a:ext cx="5256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Problem Statement</a:t>
            </a:r>
            <a:endParaRPr lang="en-US" sz="1350" dirty="0">
              <a:solidFill>
                <a:schemeClr val="bg1"/>
              </a:solidFill>
            </a:endParaRPr>
          </a:p>
        </p:txBody>
      </p:sp>
      <p:cxnSp>
        <p:nvCxnSpPr>
          <p:cNvPr id="41" name="Google Shape;41;p2"/>
          <p:cNvCxnSpPr/>
          <p:nvPr/>
        </p:nvCxnSpPr>
        <p:spPr>
          <a:xfrm flipH="1">
            <a:off x="1342860" y="1403309"/>
            <a:ext cx="7875" cy="2158425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622652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07281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0075" y="314325"/>
            <a:ext cx="79438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00075" y="682228"/>
            <a:ext cx="79438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data across the customer journey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00075" y="1535906"/>
            <a:ext cx="642937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193E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information is often spread across different business activities, making it difficult to see the full picture of customer health.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0075" y="2497410"/>
            <a:ext cx="182522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0075" y="2758157"/>
            <a:ext cx="182522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Demographics, geography, and account tenure. Who the customer is.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39616" y="2497410"/>
            <a:ext cx="182522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Usage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639616" y="2758157"/>
            <a:ext cx="182522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levels, balances, and engagement frequency. How they use the service.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679156" y="2497410"/>
            <a:ext cx="182522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Experience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679156" y="2758157"/>
            <a:ext cx="182522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volume, resolution times, and service friction. How they feel.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718697" y="2497410"/>
            <a:ext cx="182522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&amp; Retention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18697" y="2758157"/>
            <a:ext cx="182522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history, discounts, and response rates. How we try to keep them.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0075" y="3668985"/>
            <a:ext cx="7943850" cy="500063"/>
          </a:xfrm>
          <a:prstGeom prst="rect">
            <a:avLst/>
          </a:prstGeom>
          <a:solidFill>
            <a:srgbClr val="F2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0075" y="3668985"/>
            <a:ext cx="42863" cy="500063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8675" y="3840435"/>
            <a:ext cx="74866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unified view, critical warning signs of churn are often missed until it is too late.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0075" y="4814888"/>
            <a:ext cx="177259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Analysis &amp; Retention Solution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07281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0075" y="314325"/>
            <a:ext cx="79438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Leaders Need Answered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00075" y="682228"/>
            <a:ext cx="79438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 the analysis to support practical business decisions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0075" y="1464469"/>
            <a:ext cx="2505056" cy="128587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0075" y="1464469"/>
            <a:ext cx="2505056" cy="28575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1525" y="1635919"/>
            <a:ext cx="216215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1525" y="1878806"/>
            <a:ext cx="2162156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customers are more likely to churn in the next period?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19444" y="1464469"/>
            <a:ext cx="2505056" cy="128587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19444" y="1464469"/>
            <a:ext cx="2505056" cy="28575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490894" y="1635919"/>
            <a:ext cx="216215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PATTERNS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490894" y="1878806"/>
            <a:ext cx="2162156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specific customer behaviors are most associated with churn?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38813" y="1464469"/>
            <a:ext cx="2505056" cy="128587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038813" y="1464469"/>
            <a:ext cx="2505056" cy="28575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10263" y="1635919"/>
            <a:ext cx="216215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EXPERIENCE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10263" y="1878806"/>
            <a:ext cx="2162156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customer support experience or ticket volume relate to churn?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0075" y="2964656"/>
            <a:ext cx="2505056" cy="128587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00075" y="2964656"/>
            <a:ext cx="2505056" cy="28575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71525" y="3136106"/>
            <a:ext cx="216215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ENGAGEMENT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1525" y="3378994"/>
            <a:ext cx="2162156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product usage differ between retained and churned customers?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319444" y="2964656"/>
            <a:ext cx="2505056" cy="128587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319444" y="2964656"/>
            <a:ext cx="2505056" cy="28575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490894" y="3136106"/>
            <a:ext cx="216215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EFFECTIVENESS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490894" y="3378994"/>
            <a:ext cx="2162156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current offers helping with retention, or are they underutilized?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038813" y="2964656"/>
            <a:ext cx="2505056" cy="128587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038813" y="2964656"/>
            <a:ext cx="2505056" cy="28575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210263" y="3136106"/>
            <a:ext cx="216215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PRIORITY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210263" y="3378994"/>
            <a:ext cx="2162156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customer segments need immediate attention to prevent loss?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00075" y="4814888"/>
            <a:ext cx="177259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Analysis &amp; Retention Solution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1528699" y="1025557"/>
            <a:ext cx="5256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Methodology</a:t>
            </a:r>
            <a:endParaRPr lang="en-US" sz="1350" dirty="0">
              <a:solidFill>
                <a:schemeClr val="bg1"/>
              </a:solidFill>
            </a:endParaRPr>
          </a:p>
        </p:txBody>
      </p:sp>
      <p:cxnSp>
        <p:nvCxnSpPr>
          <p:cNvPr id="41" name="Google Shape;41;p2"/>
          <p:cNvCxnSpPr/>
          <p:nvPr/>
        </p:nvCxnSpPr>
        <p:spPr>
          <a:xfrm flipH="1">
            <a:off x="1342860" y="1403309"/>
            <a:ext cx="7875" cy="2158425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127431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3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07281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0075" y="314325"/>
            <a:ext cx="79438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00075" y="682228"/>
            <a:ext cx="79438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customer activity to strategic business outcomes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0075" y="1964531"/>
            <a:ext cx="1714500" cy="1143000"/>
          </a:xfrm>
          <a:prstGeom prst="rect">
            <a:avLst/>
          </a:prstGeom>
          <a:solidFill>
            <a:srgbClr val="EA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0075" y="1964531"/>
            <a:ext cx="1714500" cy="35719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16422" y="2450306"/>
            <a:ext cx="8818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0075" y="3250406"/>
            <a:ext cx="171450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view of profiles, usage, support, and offers.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676506" y="1964531"/>
            <a:ext cx="1714500" cy="1143000"/>
          </a:xfrm>
          <a:prstGeom prst="rect">
            <a:avLst/>
          </a:prstGeom>
          <a:solidFill>
            <a:srgbClr val="EA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676506" y="1964531"/>
            <a:ext cx="1714500" cy="35719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91371" y="2450306"/>
            <a:ext cx="4847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76506" y="3250406"/>
            <a:ext cx="171450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patterns and behaviors linked to churn.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752938" y="1964531"/>
            <a:ext cx="1714500" cy="1143000"/>
          </a:xfrm>
          <a:prstGeom prst="rect">
            <a:avLst/>
          </a:prstGeom>
          <a:solidFill>
            <a:srgbClr val="EA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52938" y="1964531"/>
            <a:ext cx="1714500" cy="35719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110069" y="2450306"/>
            <a:ext cx="100023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52938" y="3250406"/>
            <a:ext cx="171450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Translating data patterns into clear business signals.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829369" y="1964531"/>
            <a:ext cx="1714500" cy="1143000"/>
          </a:xfrm>
          <a:prstGeom prst="rect">
            <a:avLst/>
          </a:prstGeom>
          <a:solidFill>
            <a:srgbClr val="EA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829369" y="1964531"/>
            <a:ext cx="1714500" cy="35719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972244" y="2364581"/>
            <a:ext cx="1428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Retention Decisions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29369" y="3250406"/>
            <a:ext cx="171450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outreach and targeted retention strategies.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00075" y="4814888"/>
            <a:ext cx="177259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Analysis &amp; Retention Solution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07281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0075" y="314325"/>
            <a:ext cx="79438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Repeatable Methodology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00075" y="682228"/>
            <a:ext cx="79438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data to actionable business decisions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1171575" y="1678781"/>
            <a:ext cx="285750" cy="285750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71575" y="167878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0075" y="2107406"/>
            <a:ext cx="14287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0075" y="2507456"/>
            <a:ext cx="142875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information from relevant business sources and customer touchpoints.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800350" y="1678781"/>
            <a:ext cx="285750" cy="285750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800350" y="167878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228850" y="2107406"/>
            <a:ext cx="14287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228850" y="2507456"/>
            <a:ext cx="142875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and organize information for consistent and reliable analysis.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429125" y="1678781"/>
            <a:ext cx="285750" cy="285750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429125" y="167878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57625" y="2107406"/>
            <a:ext cx="14287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857625" y="2507456"/>
            <a:ext cx="142875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activity into a unified view to identify churn-related patterns.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057900" y="1678781"/>
            <a:ext cx="285750" cy="285750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057900" y="167878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86400" y="2107406"/>
            <a:ext cx="14287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486400" y="2507456"/>
            <a:ext cx="142875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complex patterns into clear, actionable business findings.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686675" y="1678781"/>
            <a:ext cx="285750" cy="285750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686675" y="167878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15175" y="2107406"/>
            <a:ext cx="14287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115175" y="2507456"/>
            <a:ext cx="142875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the evidence needed to support effective retention strategies.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00075" y="4814888"/>
            <a:ext cx="177259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Analysis &amp; Retention Solution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1528699" y="1025557"/>
            <a:ext cx="5256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300" dirty="0">
                <a:solidFill>
                  <a:schemeClr val="lt1"/>
                </a:solidFill>
              </a:rPr>
              <a:t>Tech Stack</a:t>
            </a:r>
            <a:endParaRPr lang="en-US" sz="1350" dirty="0"/>
          </a:p>
        </p:txBody>
      </p:sp>
      <p:cxnSp>
        <p:nvCxnSpPr>
          <p:cNvPr id="41" name="Google Shape;41;p2"/>
          <p:cNvCxnSpPr/>
          <p:nvPr/>
        </p:nvCxnSpPr>
        <p:spPr>
          <a:xfrm flipH="1">
            <a:off x="1342860" y="1403309"/>
            <a:ext cx="7875" cy="2158425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763798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42975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571484" y="300038"/>
            <a:ext cx="20010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950" dirty="0"/>
          </a:p>
        </p:txBody>
      </p:sp>
      <p:sp>
        <p:nvSpPr>
          <p:cNvPr id="5" name="Shape 2"/>
          <p:cNvSpPr/>
          <p:nvPr/>
        </p:nvSpPr>
        <p:spPr>
          <a:xfrm>
            <a:off x="0" y="907256"/>
            <a:ext cx="9144000" cy="35719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0" y="1085850"/>
            <a:ext cx="91440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 to support the customer churn analysis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57225" y="1585913"/>
            <a:ext cx="1828800" cy="1357313"/>
          </a:xfrm>
          <a:prstGeom prst="rect">
            <a:avLst/>
          </a:prstGeom>
          <a:solidFill>
            <a:srgbClr val="F5F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57225" y="1585913"/>
            <a:ext cx="1828800" cy="35719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14388" y="1764506"/>
            <a:ext cx="15144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14388" y="2093119"/>
            <a:ext cx="151447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NiFi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4388" y="2361009"/>
            <a:ext cx="151447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relevant data sources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814388" y="2721769"/>
            <a:ext cx="1185862" cy="45719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657475" y="1585913"/>
            <a:ext cx="1828800" cy="1357313"/>
          </a:xfrm>
          <a:prstGeom prst="rect">
            <a:avLst/>
          </a:prstGeom>
          <a:solidFill>
            <a:srgbClr val="F5F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57475" y="1585913"/>
            <a:ext cx="1828800" cy="35719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814638" y="1764506"/>
            <a:ext cx="15144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814638" y="2093119"/>
            <a:ext cx="151447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PySpark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814638" y="2361009"/>
            <a:ext cx="1514475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Prepares and analyzes customer data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2814638" y="2721769"/>
            <a:ext cx="1419736" cy="45719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657725" y="1585913"/>
            <a:ext cx="1828800" cy="1357313"/>
          </a:xfrm>
          <a:prstGeom prst="rect">
            <a:avLst/>
          </a:prstGeom>
          <a:solidFill>
            <a:srgbClr val="F5F8F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657725" y="1585913"/>
            <a:ext cx="1828800" cy="35719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14888" y="1764506"/>
            <a:ext cx="151447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&amp; Management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14888" y="2257425"/>
            <a:ext cx="151447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· Hive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14888" y="2525316"/>
            <a:ext cx="151447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Organizes data for reliable access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4814887" y="2721769"/>
            <a:ext cx="1248287" cy="45719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657975" y="1585913"/>
            <a:ext cx="1828800" cy="1357313"/>
          </a:xfrm>
          <a:prstGeom prst="rect">
            <a:avLst/>
          </a:prstGeom>
          <a:solidFill>
            <a:srgbClr val="F5F8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657975" y="1585913"/>
            <a:ext cx="1828800" cy="35719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815138" y="1764506"/>
            <a:ext cx="15144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Visualization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815138" y="2093119"/>
            <a:ext cx="151447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815138" y="2361009"/>
            <a:ext cx="1514475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findings into clear visual insights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 flipV="1">
            <a:off x="6815138" y="2676050"/>
            <a:ext cx="1428750" cy="45719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57225" y="3143250"/>
            <a:ext cx="3829050" cy="1357313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57225" y="3143250"/>
            <a:ext cx="3829050" cy="35719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14388" y="3321844"/>
            <a:ext cx="35147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B8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Environment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14388" y="3650456"/>
            <a:ext cx="351472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14388" y="3918347"/>
            <a:ext cx="35147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exploration, analysis, and documentation</a:t>
            </a:r>
            <a:endParaRPr lang="en-US" sz="650" dirty="0"/>
          </a:p>
        </p:txBody>
      </p:sp>
      <p:sp>
        <p:nvSpPr>
          <p:cNvPr id="36" name="Shape 33"/>
          <p:cNvSpPr/>
          <p:nvPr/>
        </p:nvSpPr>
        <p:spPr>
          <a:xfrm>
            <a:off x="814388" y="4279106"/>
            <a:ext cx="300038" cy="28575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657725" y="3143250"/>
            <a:ext cx="3829050" cy="13573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657725" y="3143250"/>
            <a:ext cx="3829050" cy="35719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8472488" y="3143250"/>
            <a:ext cx="14288" cy="1357313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657725" y="4486275"/>
            <a:ext cx="3829050" cy="14288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657725" y="3143250"/>
            <a:ext cx="14288" cy="1357313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900613" y="3336131"/>
            <a:ext cx="334327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&amp; Retention Solution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900613" y="3625453"/>
            <a:ext cx="3343275" cy="379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connected toolkit for turning customer data into better retention decisions.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814888" y="4264819"/>
            <a:ext cx="300038" cy="28575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385763" y="4904184"/>
            <a:ext cx="1920273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Analysis &amp; Retention Solution</a:t>
            </a:r>
            <a:endParaRPr lang="en-US" sz="650" dirty="0"/>
          </a:p>
        </p:txBody>
      </p:sp>
    </p:spTree>
    <p:extLst>
      <p:ext uri="{BB962C8B-B14F-4D97-AF65-F5344CB8AC3E}">
        <p14:creationId xmlns:p14="http://schemas.microsoft.com/office/powerpoint/2010/main" val="4052078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1528699" y="1025557"/>
            <a:ext cx="5256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300" dirty="0">
                <a:solidFill>
                  <a:schemeClr val="lt1"/>
                </a:solidFill>
              </a:rPr>
              <a:t>Key Tasks</a:t>
            </a:r>
            <a:endParaRPr lang="en-US" sz="1350" dirty="0"/>
          </a:p>
        </p:txBody>
      </p:sp>
      <p:cxnSp>
        <p:nvCxnSpPr>
          <p:cNvPr id="41" name="Google Shape;41;p2"/>
          <p:cNvCxnSpPr/>
          <p:nvPr/>
        </p:nvCxnSpPr>
        <p:spPr>
          <a:xfrm flipH="1">
            <a:off x="1342860" y="1403309"/>
            <a:ext cx="7875" cy="2158425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703032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575" y="435769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07281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0075" y="314325"/>
            <a:ext cx="79438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Tasks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00075" y="682228"/>
            <a:ext cx="79438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project activities as business milestones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29736" y="1964531"/>
            <a:ext cx="1421196" cy="357188"/>
          </a:xfrm>
          <a:prstGeom prst="rect">
            <a:avLst/>
          </a:prstGeom>
          <a:solidFill>
            <a:srgbClr val="EA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39297" y="1971675"/>
            <a:ext cx="28575" cy="357188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0075" y="2064544"/>
            <a:ext cx="18252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0075" y="2421731"/>
            <a:ext cx="42863" cy="42863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0075" y="2364581"/>
            <a:ext cx="1825228" cy="41549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r>
              <a:rPr lang="en-US" sz="900" dirty="0"/>
              <a:t>Ensure customer and activity information is clean, consistent, and ready for analysis.</a:t>
            </a:r>
          </a:p>
        </p:txBody>
      </p:sp>
      <p:sp>
        <p:nvSpPr>
          <p:cNvPr id="11" name="Shape 8"/>
          <p:cNvSpPr/>
          <p:nvPr/>
        </p:nvSpPr>
        <p:spPr>
          <a:xfrm>
            <a:off x="600075" y="2828925"/>
            <a:ext cx="42863" cy="42863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0075" y="2771775"/>
            <a:ext cx="1825228" cy="321469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data formats across different business sources.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653903" y="1930644"/>
            <a:ext cx="1385174" cy="357188"/>
          </a:xfrm>
          <a:prstGeom prst="rect">
            <a:avLst/>
          </a:prstGeom>
          <a:solidFill>
            <a:srgbClr val="EA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46211" y="1915512"/>
            <a:ext cx="28575" cy="357188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682478" y="2050531"/>
            <a:ext cx="18252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Profiling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639616" y="2421731"/>
            <a:ext cx="42863" cy="42863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639616" y="2364581"/>
            <a:ext cx="1825228" cy="321469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characteristics: Age, Geography, and Tenure.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639616" y="2828925"/>
            <a:ext cx="42863" cy="42863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639616" y="2771775"/>
            <a:ext cx="1825228" cy="24622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r>
              <a:rPr lang="en-US" sz="800" dirty="0"/>
              <a:t>Understand financial profiles and product ownership patterns.</a:t>
            </a:r>
          </a:p>
        </p:txBody>
      </p:sp>
      <p:sp>
        <p:nvSpPr>
          <p:cNvPr id="20" name="Shape 17"/>
          <p:cNvSpPr/>
          <p:nvPr/>
        </p:nvSpPr>
        <p:spPr>
          <a:xfrm>
            <a:off x="4652283" y="1957662"/>
            <a:ext cx="1393747" cy="357188"/>
          </a:xfrm>
          <a:prstGeom prst="rect">
            <a:avLst/>
          </a:prstGeom>
          <a:solidFill>
            <a:srgbClr val="EA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10577" y="1971675"/>
            <a:ext cx="45719" cy="357188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679156" y="2064544"/>
            <a:ext cx="18252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Analysis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79156" y="2421731"/>
            <a:ext cx="42863" cy="42863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679156" y="2364581"/>
            <a:ext cx="1825228" cy="321469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product usage and monthly balance trends.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679156" y="2828925"/>
            <a:ext cx="42863" cy="42863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679156" y="2771775"/>
            <a:ext cx="1825228" cy="321469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support tickets and offer interactions.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668608" y="1971675"/>
            <a:ext cx="1413174" cy="357188"/>
          </a:xfrm>
          <a:prstGeom prst="rect">
            <a:avLst/>
          </a:prstGeom>
          <a:solidFill>
            <a:srgbClr val="EA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663250" y="1989534"/>
            <a:ext cx="28575" cy="357188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718697" y="2064544"/>
            <a:ext cx="18252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718697" y="2421731"/>
            <a:ext cx="42863" cy="42863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718697" y="2364581"/>
            <a:ext cx="1825228" cy="321469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behaviors strongly associated with churn.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718697" y="2828925"/>
            <a:ext cx="42863" cy="42863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718697" y="2771775"/>
            <a:ext cx="1825228" cy="321469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customers based on retention risk levels.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00075" y="4814888"/>
            <a:ext cx="177259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Analysis &amp; Retention Solution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1528699" y="1025557"/>
            <a:ext cx="525645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Results and Insights</a:t>
            </a:r>
          </a:p>
          <a:p>
            <a:endParaRPr lang="en-US" sz="1350" dirty="0"/>
          </a:p>
        </p:txBody>
      </p:sp>
      <p:cxnSp>
        <p:nvCxnSpPr>
          <p:cNvPr id="41" name="Google Shape;41;p2"/>
          <p:cNvCxnSpPr/>
          <p:nvPr/>
        </p:nvCxnSpPr>
        <p:spPr>
          <a:xfrm flipH="1">
            <a:off x="1342860" y="1403309"/>
            <a:ext cx="7875" cy="2158425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59031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07281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0075" y="314325"/>
            <a:ext cx="79438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Analyze About Each Customer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00075" y="682228"/>
            <a:ext cx="794385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A multi-dimensional view of customer behavior and experience</a:t>
            </a:r>
          </a:p>
        </p:txBody>
      </p:sp>
      <p:sp>
        <p:nvSpPr>
          <p:cNvPr id="6" name="Text 3"/>
          <p:cNvSpPr/>
          <p:nvPr/>
        </p:nvSpPr>
        <p:spPr>
          <a:xfrm>
            <a:off x="600075" y="1735931"/>
            <a:ext cx="24574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0075" y="2053828"/>
            <a:ext cx="24574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00075" y="2235994"/>
            <a:ext cx="216098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geography, and gender to identify segment-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00075" y="2375967"/>
            <a:ext cx="66704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trends.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00075" y="2673102"/>
            <a:ext cx="24574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Profile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00075" y="2855268"/>
            <a:ext cx="22401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scores and estimated salary as indicators of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00075" y="2995240"/>
            <a:ext cx="3538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00075" y="3292376"/>
            <a:ext cx="24574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Tenure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00075" y="3474541"/>
            <a:ext cx="228856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the customer has been with the company.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343275" y="1735931"/>
            <a:ext cx="24574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343275" y="2053828"/>
            <a:ext cx="24574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Usage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343275" y="2235994"/>
            <a:ext cx="226272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products owned and frequency of active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343275" y="2375967"/>
            <a:ext cx="18908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343275" y="2673102"/>
            <a:ext cx="24574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Activity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43275" y="2855268"/>
            <a:ext cx="235721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frequency and interaction with digital platforms.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343275" y="3152403"/>
            <a:ext cx="24574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Trends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343275" y="3334569"/>
            <a:ext cx="215177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balance levels and changes in spending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343275" y="3474541"/>
            <a:ext cx="40591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086475" y="1735931"/>
            <a:ext cx="24574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086475" y="2053828"/>
            <a:ext cx="24574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Interactions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086475" y="2235994"/>
            <a:ext cx="232936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of support tickets and resolution satisfaction.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086475" y="2533129"/>
            <a:ext cx="24574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Response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086475" y="2715295"/>
            <a:ext cx="20995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of accepting or ignoring retention offers.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086475" y="3012430"/>
            <a:ext cx="24574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Friction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086475" y="3194596"/>
            <a:ext cx="200516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pain points in the customer journey.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00075" y="4814888"/>
            <a:ext cx="177259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Analysis &amp; Retention Solution</a:t>
            </a:r>
            <a:endParaRPr lang="en-US" sz="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07281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0075" y="314325"/>
            <a:ext cx="79438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 to Surface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00075" y="682228"/>
            <a:ext cx="79438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actionable patterns for retention planning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0075" y="1535906"/>
            <a:ext cx="3727754" cy="3400425"/>
          </a:xfrm>
          <a:prstGeom prst="rect">
            <a:avLst/>
          </a:prstGeom>
          <a:solidFill>
            <a:srgbClr val="F2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0075" y="1535906"/>
            <a:ext cx="3727754" cy="35719"/>
          </a:xfrm>
          <a:prstGeom prst="rect">
            <a:avLst/>
          </a:prstGeom>
          <a:solidFill>
            <a:srgbClr val="00B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85825" y="1821656"/>
            <a:ext cx="315625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85825" y="2210991"/>
            <a:ext cx="3156254" cy="582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193E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focuses on patterns that translate directly into business action, helping teams prioritize where to intervene.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56454" y="1607344"/>
            <a:ext cx="378747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Segments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56454" y="1846659"/>
            <a:ext cx="3787471" cy="342900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specific customer groups (by age, geography, or tenure) that show significantly higher churn exposure.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756454" y="2439591"/>
            <a:ext cx="378747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Gaps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756454" y="2678906"/>
            <a:ext cx="3787471" cy="342900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product usage and balance trends between retained and churned customers to spot early warning signs.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756454" y="3271838"/>
            <a:ext cx="378747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Friction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56454" y="3511153"/>
            <a:ext cx="3787471" cy="342900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if high support ticket volume or specific service interactions are leading indicators of customer loss.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56454" y="4104084"/>
            <a:ext cx="378747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Relevance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756454" y="4343400"/>
            <a:ext cx="3787471" cy="342900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which retention offers are actually working and which segments are not responding to current incentives.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00075" y="4814888"/>
            <a:ext cx="177259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Analysis &amp; Retention Solution</a:t>
            </a: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07281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0075" y="314325"/>
            <a:ext cx="794385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Retention Action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00075" y="682228"/>
            <a:ext cx="79438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Translating analysis into proactive business strategies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71538" y="1535906"/>
            <a:ext cx="642937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Outreach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71538" y="1785938"/>
            <a:ext cx="64293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at-risk customers for direct engagement. Match the communication style and channel to the specific customer segment and behavior patterns identified.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71538" y="2400300"/>
            <a:ext cx="642937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Improvements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1538" y="2650331"/>
            <a:ext cx="64293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friction points in the customer journey. Use churn signals to improve support follow-up and resource allocation where service issues are most likely to drive customer loss.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71538" y="3264694"/>
            <a:ext cx="642937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Offers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71538" y="3514725"/>
            <a:ext cx="64293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beyond broad discounting. Use insights to deliver relevant, timely offers that strengthen engagement for specific segments without eroding overall margin.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71538" y="4129088"/>
            <a:ext cx="642937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71538" y="4379119"/>
            <a:ext cx="64293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a feedback loop to monitor the outcome of retention actions. Refine the analysis and outreach approach over time based on real-world customer responses.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0075" y="4814888"/>
            <a:ext cx="177259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Analysis &amp; Retention Solution</a:t>
            </a:r>
            <a:endParaRPr lang="en-US" sz="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1528699" y="1025557"/>
            <a:ext cx="5256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Conclusion </a:t>
            </a:r>
            <a:endParaRPr lang="en-US" sz="1350" dirty="0">
              <a:solidFill>
                <a:schemeClr val="bg1"/>
              </a:solidFill>
            </a:endParaRPr>
          </a:p>
        </p:txBody>
      </p:sp>
      <p:cxnSp>
        <p:nvCxnSpPr>
          <p:cNvPr id="41" name="Google Shape;41;p2"/>
          <p:cNvCxnSpPr/>
          <p:nvPr/>
        </p:nvCxnSpPr>
        <p:spPr>
          <a:xfrm flipH="1">
            <a:off x="1342860" y="1403309"/>
            <a:ext cx="7875" cy="2158425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780867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0075" y="514350"/>
            <a:ext cx="2628900" cy="597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Next Steps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00075" y="1783035"/>
            <a:ext cx="26289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8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0075" y="2083073"/>
            <a:ext cx="26289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from reactive recovery to proactive retention through a unified view of customer health and focused business efforts.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086225" y="514350"/>
            <a:ext cx="44577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Forward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86225" y="1114425"/>
            <a:ext cx="321469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07694" y="1114425"/>
            <a:ext cx="413623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Outreach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407694" y="1346597"/>
            <a:ext cx="41362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at-risk customers for immediate engagement based on identified churn signals.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086225" y="1916646"/>
            <a:ext cx="321469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07694" y="1916646"/>
            <a:ext cx="413623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Retention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407694" y="2148818"/>
            <a:ext cx="41362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specific offers and support improvements tailored to high-risk customer segments.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086225" y="2718867"/>
            <a:ext cx="321469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07694" y="2718867"/>
            <a:ext cx="413623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07694" y="2951038"/>
            <a:ext cx="41362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a foundation for ongoing churn-risk measurement and campaign effectiveness tracking.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00075" y="4814888"/>
            <a:ext cx="177259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Analysis &amp; Retention Solution</a:t>
            </a:r>
            <a:endParaRPr lang="en-US" sz="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47A27C-63BE-0709-992C-F99C300A3C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45" b="15835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689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0331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1205</Words>
  <Application>Microsoft Office PowerPoint</Application>
  <PresentationFormat>On-screen Show (16:9)</PresentationFormat>
  <Paragraphs>237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Khaled</cp:lastModifiedBy>
  <cp:revision>8</cp:revision>
  <dcterms:created xsi:type="dcterms:W3CDTF">2026-09-04T12:44:48Z</dcterms:created>
  <dcterms:modified xsi:type="dcterms:W3CDTF">2026-09-04T15:36:41Z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0c305d5-92c3-4e9c-a756-70361f1dd1b0_Enabled">
    <vt:lpwstr>true</vt:lpwstr>
  </property>
  <property fmtid="{D5CDD505-2E9C-101B-9397-08002B2CF9AE}" pid="3" name="MSIP_Label_00c305d5-92c3-4e9c-a756-70361f1dd1b0_SetDate">
    <vt:lpwstr>2026-09-04T13:00:34Z</vt:lpwstr>
  </property>
  <property fmtid="{D5CDD505-2E9C-101B-9397-08002B2CF9AE}" pid="4" name="MSIP_Label_00c305d5-92c3-4e9c-a756-70361f1dd1b0_Method">
    <vt:lpwstr>Standard</vt:lpwstr>
  </property>
  <property fmtid="{D5CDD505-2E9C-101B-9397-08002B2CF9AE}" pid="5" name="MSIP_Label_00c305d5-92c3-4e9c-a756-70361f1dd1b0_Name">
    <vt:lpwstr>public</vt:lpwstr>
  </property>
  <property fmtid="{D5CDD505-2E9C-101B-9397-08002B2CF9AE}" pid="6" name="MSIP_Label_00c305d5-92c3-4e9c-a756-70361f1dd1b0_SiteId">
    <vt:lpwstr>29d02b7a-fa50-40cc-8d1c-a452a519c6a5</vt:lpwstr>
  </property>
  <property fmtid="{D5CDD505-2E9C-101B-9397-08002B2CF9AE}" pid="7" name="MSIP_Label_00c305d5-92c3-4e9c-a756-70361f1dd1b0_ActionId">
    <vt:lpwstr>6b73b816-ee1f-4ef5-abde-8f796a0d69c3</vt:lpwstr>
  </property>
  <property fmtid="{D5CDD505-2E9C-101B-9397-08002B2CF9AE}" pid="8" name="MSIP_Label_00c305d5-92c3-4e9c-a756-70361f1dd1b0_ContentBits">
    <vt:lpwstr>1</vt:lpwstr>
  </property>
  <property fmtid="{D5CDD505-2E9C-101B-9397-08002B2CF9AE}" pid="9" name="MSIP_Label_00c305d5-92c3-4e9c-a756-70361f1dd1b0_Tag">
    <vt:lpwstr>10, 3, 0, 1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Public</vt:lpwstr>
  </property>
</Properties>
</file>